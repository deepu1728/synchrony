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  ·  BITS PILANI PROJECT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4688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SYNCHRONY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6118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self-improving fraud detection for payment transactions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160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in real time  →  Explain every alert  →  Learn from analyst review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035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2023A7PS0591P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Fraud is rare, costly in both directions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60350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fraud is under 1% of transactions, but a fraud system fails two ways at once: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it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money is gone, and it is rarely recovered.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Over-flag it</a:t>
            </a:r>
            <a:pPr indent="0" marL="0">
              <a:lnSpc>
                <a:spcPct val="130000"/>
              </a:lnSpc>
              <a:spcAft>
                <a:spcPts val="800"/>
              </a:spcAft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genuine customers are blocked and analysts drown in false alarms.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also need to know why a payment was flagged before they act — and the system should get better every time they correct it.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0" y="1645920"/>
            <a:ext cx="2240280" cy="1371600"/>
          </a:xfrm>
          <a:prstGeom prst="rect">
            <a:avLst/>
          </a:prstGeom>
          <a:solidFill>
            <a:srgbClr val="FBEAE8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178040" y="1828800"/>
            <a:ext cx="17830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&lt;1%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178040" y="24460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transactions are fraud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178040" y="2738628"/>
            <a:ext cx="17830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PaySim base rate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9372600" y="1645920"/>
            <a:ext cx="2240280" cy="1371600"/>
          </a:xfrm>
          <a:prstGeom prst="rect">
            <a:avLst/>
          </a:prstGeom>
          <a:solidFill>
            <a:srgbClr val="EBEE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601200" y="1828800"/>
            <a:ext cx="17830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9601200" y="24460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fail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0" y="2738628"/>
            <a:ext cx="1783080" cy="141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it, or over-flag it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949440" y="3246120"/>
            <a:ext cx="466344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ED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178040" y="3456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SYNCHRONY scores, explains, and learns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178040" y="4023360"/>
            <a:ext cx="4206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decision — approve, review, or block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plain-language reason for every alert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every analyst review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SYNCHRONY  ·  2023A7PS0591P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signals, one decision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9601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691640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 =  0.80 × XGBoost probability   +   0.20 × similarity to past fraud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212848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at 0.30 or more   ·   block at 0.70 or more   ·   AMOUNT_CAP and LEARNED_FRAUD_PATTERN can force a decision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3520440" cy="2057400"/>
          </a:xfrm>
          <a:prstGeom prst="rect">
            <a:avLst/>
          </a:prstGeom>
          <a:solidFill>
            <a:srgbClr val="FDF3E2"/>
          </a:solidFill>
          <a:ln w="15875">
            <a:solidFill>
              <a:srgbClr val="C98A1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3246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0332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balance drain, night hours, new receiver + high amount, amount cap. Shown as evidence to analysts; only the amount cap and the learned pattern can force a decision.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3063240"/>
            <a:ext cx="3520440" cy="2057400"/>
          </a:xfrm>
          <a:prstGeom prst="rect">
            <a:avLst/>
          </a:prstGeom>
          <a:solidFill>
            <a:srgbClr val="EAF6EE"/>
          </a:solidFill>
          <a:ln w="15875">
            <a:solidFill>
              <a:srgbClr val="2F7D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3246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70332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1.66M PaySim transactions. Produces the fraud probability, and SHAP explains which features drove 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46720" y="3063240"/>
            <a:ext cx="3520440" cy="2057400"/>
          </a:xfrm>
          <a:prstGeom prst="rect">
            <a:avLst/>
          </a:prstGeom>
          <a:solidFill>
            <a:srgbClr val="EBEE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5320" y="32461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75320" y="3703320"/>
            <a:ext cx="3063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nearest past cases in pgvector (exact search). Fraud share becomes the similarity score, and it grows sharper as analysts confirm cases.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also gets a plain-language explanation (Claude Haiku, guardrail-checked, with a template fallback) and a Confirm fraud / Mark genuine action for the analyst.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SYNCHRONY  ·  2023A7PS0591P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transaction is scored</a:t>
            </a:r>
            <a:endParaRPr lang="en-US" sz="2800" dirty="0"/>
          </a:p>
        </p:txBody>
      </p:sp>
      <p:pic>
        <p:nvPicPr>
          <p:cNvPr id="4" name="Image 0" descr="/private/tmp/claude-501/-Users-deepanshsaha-DEEPANSH-CODING/6ddf910b-1aff-4756-b3fb-d8f0c7245cda/scratchpad/deck/img/architecture_cle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1417320"/>
            <a:ext cx="6894576" cy="49862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SYNCHRONY  ·  2023A7PS0591P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OFFLINE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XGBoost on the held-out PaySim test set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554,082 transactions held out for testing, 4,260 of them fraud. Never seen during training.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1828800"/>
          </a:xfrm>
          <a:prstGeom prst="rect">
            <a:avLst/>
          </a:prstGeom>
          <a:solidFill>
            <a:srgbClr val="EAF6EE"/>
          </a:solidFill>
          <a:ln w="15875">
            <a:solidFill>
              <a:srgbClr val="2F7D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945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0175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10128"/>
            <a:ext cx="3063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false alarms, of 549,822 genuine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43400" y="2011680"/>
            <a:ext cx="3520440" cy="1828800"/>
          </a:xfrm>
          <a:prstGeom prst="rect">
            <a:avLst/>
          </a:prstGeom>
          <a:solidFill>
            <a:srgbClr val="EAF6EE"/>
          </a:solidFill>
          <a:ln w="15875">
            <a:solidFill>
              <a:srgbClr val="2F7D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0" y="21945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99.6%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0175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310128"/>
            <a:ext cx="3063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missed, of 4,260 fraud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38160" y="2011680"/>
            <a:ext cx="3520440" cy="1828800"/>
          </a:xfrm>
          <a:prstGeom prst="rect">
            <a:avLst/>
          </a:prstGeom>
          <a:solidFill>
            <a:srgbClr val="EAF6EE"/>
          </a:solidFill>
          <a:ln w="15875">
            <a:solidFill>
              <a:srgbClr val="2F7D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66760" y="219456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0.9999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8366760" y="30175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PR-AUC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8366760" y="3310128"/>
            <a:ext cx="3063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ranking of risk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1101852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E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29768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on the test set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4663440"/>
          <a:ext cx="5394960" cy="1143000"/>
        </p:xfrm>
        <a:graphic>
          <a:graphicData uri="http://schemas.openxmlformats.org/drawingml/2006/table">
            <a:tbl>
              <a:tblPr/>
              <a:tblGrid>
                <a:gridCol w="1645920"/>
                <a:gridCol w="1874520"/>
                <a:gridCol w="1874520"/>
              </a:tblGrid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genuine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Predicted fraud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genuine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549,818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 fraud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4,241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 txBox="1"/>
          <p:nvPr/>
        </p:nvSpPr>
        <p:spPr>
          <a:xfrm>
            <a:off x="6446520" y="4526280"/>
            <a:ext cx="48920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8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threshold is chosen: every possible cutoff is tried on the validation set, and the one with the best F1 score (the balance of precision and recall) is kept — 0.7778 here — then applied once to this test set. The live app does not use this cutoff directly; it combines the raw probability with similarity before deciding.</a:t>
            </a:r>
            <a:endParaRPr lang="en-US" sz="108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SYNCHRONY  ·  2023A7PS0591P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LIVE SYSTEM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running pipeline, end to end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simulator replay through the real API: validate → features → score → store → alert → analyst review.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651760" cy="1645920"/>
          </a:xfrm>
          <a:prstGeom prst="rect">
            <a:avLst/>
          </a:prstGeom>
          <a:solidFill>
            <a:srgbClr val="EAF6EE"/>
          </a:solidFill>
          <a:ln w="15875">
            <a:solidFill>
              <a:srgbClr val="2F7D4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94560"/>
            <a:ext cx="21945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352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rate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278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 of 178 fraud flagged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2011680"/>
            <a:ext cx="2651760" cy="1645920"/>
          </a:xfrm>
          <a:prstGeom prst="rect">
            <a:avLst/>
          </a:prstGeom>
          <a:solidFill>
            <a:srgbClr val="FDF3E2"/>
          </a:solidFill>
          <a:ln w="15875">
            <a:solidFill>
              <a:srgbClr val="C98A1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66160" y="2194560"/>
            <a:ext cx="21945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8A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0.10%</a:t>
            </a:r>
            <a:endParaRPr lang="en-US" sz="380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29352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false-positive rate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66160" y="32278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of 3,897 genuine flagged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2011680"/>
            <a:ext cx="2651760" cy="1645920"/>
          </a:xfrm>
          <a:prstGeom prst="rect">
            <a:avLst/>
          </a:prstGeom>
          <a:solidFill>
            <a:srgbClr val="EAF6EE"/>
          </a:solidFill>
          <a:ln w="15875">
            <a:solidFill>
              <a:srgbClr val="2F7D4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2194560"/>
            <a:ext cx="21945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F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97.8%</a:t>
            </a:r>
            <a:endParaRPr lang="en-US" sz="38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29352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32278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 of 182 flagged were fraud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915400" y="201168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ED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98280" y="21488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</a:t>
            </a:r>
            <a:endParaRPr lang="en-US" sz="11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98280" y="2423160"/>
          <a:ext cx="2286000" cy="1097280"/>
        </p:xfrm>
        <a:graphic>
          <a:graphicData uri="http://schemas.openxmlformats.org/drawingml/2006/table">
            <a:tbl>
              <a:tblPr/>
              <a:tblGrid>
                <a:gridCol w="1280160"/>
                <a:gridCol w="10058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F7D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98A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548640" y="3931920"/>
            <a:ext cx="1101852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7CED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409651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this with care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77240" y="4434840"/>
            <a:ext cx="10561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PaySim is synthetic, and its fraud has a clean signature (the sender's balance goes to exactly zero) that real fraud does not. These numbers show the pipeline works correctly end to end — detection, explanation, storage, human review and learning all connect — not how it would perform on real traffic. 28 analyst-labelled cases so far (25 fraud, 3 genuine), growing with every review.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SYNCHRONY  ·  2023A7PS0591P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Red-team: can evasive fraud beat it?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361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held-out fraud rewritten into evasive variants — only what an attacker controls changes. 60 attacks scored, then 20 labelled by analysts, then 60 fresh attacks scored again.</a:t>
            </a:r>
            <a:endParaRPr lang="en-US" sz="11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18520" cy="1371600"/>
        </p:xfrm>
        <a:graphic>
          <a:graphicData uri="http://schemas.openxmlformats.org/drawingml/2006/table">
            <a:tbl>
              <a:tblPr/>
              <a:tblGrid>
                <a:gridCol w="4617720"/>
                <a:gridCol w="3200400"/>
                <a:gridCol w="32004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 before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 after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drain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Groomed mule (control)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/private/tmp/claude-501/-Users-deepanshsaha-DEEPANSH-CODING/6ddf910b-1aff-4756-b3fb-d8f0c7245cda/scratchpad/deck/img/redt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3611880"/>
            <a:ext cx="9601200" cy="282489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6172200"/>
            <a:ext cx="11018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Structuring (splitting a transfer under the rule threshold) went from 9% to 77% flagged after 20 analyst labels. Partial drains stay the hardest case. Learning costs a few extra reviews on genuine transactions, and clearing false alarms turns the extra flags back off.</a:t>
            </a:r>
            <a:endParaRPr lang="en-US" sz="1000" dirty="0"/>
          </a:p>
        </p:txBody>
      </p:sp>
      <p:sp>
        <p:nvSpPr>
          <p:cNvPr id="8" name="Text 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SYNCHRONY  ·  2023A7PS0591P</a:t>
            </a:r>
            <a:endParaRPr lang="en-US" sz="900" dirty="0"/>
          </a:p>
        </p:txBody>
      </p:sp>
      <p:sp>
        <p:nvSpPr>
          <p:cNvPr id="9" name="Text 5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structuring attack, caught live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92240" cy="4271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pic>
        <p:nvPicPr>
          <p:cNvPr id="5" name="Image 0" descr="/private/tmp/claude-501/-Users-deepanshsaha-DEEPANSH-CODING/6ddf910b-1aff-4756-b3fb-d8f0c7245cda/scratchpad/deck/img/demo_shot_cr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18488"/>
            <a:ext cx="6455664" cy="422585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406640" y="1645920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shows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406640" y="2011680"/>
            <a:ext cx="423367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0.87 against the review / block thresholds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similarity, rule and anomaly breakdown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Confirm fraud / Mark genuine action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transaction detail and the rules that fired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406640" y="4297680"/>
            <a:ext cx="423367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alert 2901 — leg 5 of a structuring attack from the red-team script, caught the moment the drain became visible after four smaller legs slipped through as approved. Real screenshot of the running app, not a mockup.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263640"/>
            <a:ext cx="11018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video: 3–5 minutes — live stream, fraud caught, explanation, analyst feedback, red-team attack caught.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SYNCHRONY  ·  2023A7PS0591P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AI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in the loop, by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28016" cy="12801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86384" y="1691640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in the loop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1168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flags; people decide. Uncertain cases default to review, not block. Every verdict is recorded with who and when.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128016" cy="128016"/>
          </a:xfrm>
          <a:prstGeom prst="rect">
            <a:avLst/>
          </a:prstGeom>
          <a:solidFill>
            <a:srgbClr val="2F7D4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86384" y="3246120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Explainability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6616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shows its SHAP factors, the rules that fired, the score breakdown, and the nearest similar past cases.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4846320"/>
            <a:ext cx="128016" cy="128016"/>
          </a:xfrm>
          <a:prstGeom prst="rect">
            <a:avLst/>
          </a:prstGeom>
          <a:solidFill>
            <a:srgbClr val="6C4FB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86384" y="4800600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C4F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safeguards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12064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only rewrites the explanation — it never decides, and sees no account IDs. Guardrail failures fall back to the safe template.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63640" y="1737360"/>
            <a:ext cx="128016" cy="128016"/>
          </a:xfrm>
          <a:prstGeom prst="rect">
            <a:avLst/>
          </a:prstGeom>
          <a:solidFill>
            <a:srgbClr val="C98A1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01384" y="1691640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8A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&amp; error cost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201168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personal attributes are used, only transaction and account-behaviour features. The metrics page tracks the false-positive rate explicitly.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291840"/>
            <a:ext cx="128016" cy="12801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01384" y="3246120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can be abused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56616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Mitigated by an audit trail and a 3-case minimum. Role checks are not yet enforced end to end — a known next step.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4846320"/>
            <a:ext cx="128016" cy="12801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01384" y="4800600"/>
            <a:ext cx="5157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known limits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512064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names or contact details are stored. PaySim is synthetic, so these results are optimistic, and this is a demonstration project.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SYNCHRONY  ·  2023A7PS0591P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SYNCHRONY on AWS (pilot scale)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4251960"/>
        </p:xfrm>
        <a:graphic>
          <a:graphicData uri="http://schemas.openxmlformats.org/drawingml/2006/table">
            <a:tbl>
              <a:tblPr/>
              <a:tblGrid>
                <a:gridCol w="2011680"/>
                <a:gridCol w="9052560"/>
              </a:tblGrid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build on S3, served through CloudFront with ACM TLS and a WAF rate-limiting rule in front.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in a Docker image on ECR, run on ECS Fargate behind an Application Load Balancer, auto-scaled on request count and CPU.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RDS for PostgreSQL (pgvector extension) in private subnets, Multi-AZ, automated backups and point-in-time recovery.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 &amp; CI/CD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secret, DB credentials and the Anthropic key in Secrets Manager, read via least-privilege IAM task roles. GitHub Actions builds, tests and deploys on every merge.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A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CloudWatch Logs and alarms on latency, error rate and queue depth; X-Ray tracing across the API and the LLM call.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7CE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pilot-scale plan: single region, one ECS service, one RDS instance. Multi-region, read replicas and a managed model-serving tier are the natural next step at higher volume.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SYNCHRONY  ·  2023A7PS0591P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457432" y="652881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4688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SYNCHRONY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00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in real time. Explains every decision. Learns from every review.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8404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synthetic PaySim data — a proof that the pipeline works end to end, not a claim about real-world fraud rates.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035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2023A7PS0591P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2026-09-22T06:44:23Z</dcterms:created>
  <dcterms:modified xsi:type="dcterms:W3CDTF">2026-09-22T06:44:23Z</dcterms:modified>
</cp:coreProperties>
</file>